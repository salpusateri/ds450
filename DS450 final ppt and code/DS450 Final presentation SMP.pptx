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84C194-AB76-4837-8AD1-1937B46051C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26D7629-4D65-4B89-91CD-75A1514E07E0}">
      <dgm:prSet/>
      <dgm:spPr/>
      <dgm:t>
        <a:bodyPr/>
        <a:lstStyle/>
        <a:p>
          <a:r>
            <a:rPr lang="en-US"/>
            <a:t>Random Forest model: r^2 of .9357, rmse of 45.8260</a:t>
          </a:r>
        </a:p>
      </dgm:t>
    </dgm:pt>
    <dgm:pt modelId="{41AEF755-CE0C-4B39-9C85-76B9F620572A}" type="parTrans" cxnId="{B069CB3A-CDFA-41A2-9FC5-9CE6067774DF}">
      <dgm:prSet/>
      <dgm:spPr/>
      <dgm:t>
        <a:bodyPr/>
        <a:lstStyle/>
        <a:p>
          <a:endParaRPr lang="en-US"/>
        </a:p>
      </dgm:t>
    </dgm:pt>
    <dgm:pt modelId="{792D0BBB-3999-4F4E-8D50-E740AC8E623B}" type="sibTrans" cxnId="{B069CB3A-CDFA-41A2-9FC5-9CE6067774DF}">
      <dgm:prSet/>
      <dgm:spPr/>
      <dgm:t>
        <a:bodyPr/>
        <a:lstStyle/>
        <a:p>
          <a:endParaRPr lang="en-US"/>
        </a:p>
      </dgm:t>
    </dgm:pt>
    <dgm:pt modelId="{668E5C76-34DE-4403-A2C3-B3E98B6BCA51}">
      <dgm:prSet/>
      <dgm:spPr/>
      <dgm:t>
        <a:bodyPr/>
        <a:lstStyle/>
        <a:p>
          <a:r>
            <a:rPr lang="en-US"/>
            <a:t>Gradient Boosting model r^2 of .9181, rmse of 51.6878</a:t>
          </a:r>
        </a:p>
      </dgm:t>
    </dgm:pt>
    <dgm:pt modelId="{B39707B1-2166-4849-94C8-FF87ECCBB8A3}" type="parTrans" cxnId="{505CC354-E2EB-4C7C-9C21-AACF3106F0D5}">
      <dgm:prSet/>
      <dgm:spPr/>
      <dgm:t>
        <a:bodyPr/>
        <a:lstStyle/>
        <a:p>
          <a:endParaRPr lang="en-US"/>
        </a:p>
      </dgm:t>
    </dgm:pt>
    <dgm:pt modelId="{BC075CB5-EB50-496D-A332-5AE11388AA82}" type="sibTrans" cxnId="{505CC354-E2EB-4C7C-9C21-AACF3106F0D5}">
      <dgm:prSet/>
      <dgm:spPr/>
      <dgm:t>
        <a:bodyPr/>
        <a:lstStyle/>
        <a:p>
          <a:endParaRPr lang="en-US"/>
        </a:p>
      </dgm:t>
    </dgm:pt>
    <dgm:pt modelId="{B77DFDAB-37AA-490A-9D99-A46EEEB42421}" type="pres">
      <dgm:prSet presAssocID="{D184C194-AB76-4837-8AD1-1937B46051C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00EA635-3218-4E88-9205-C6741840AB19}" type="pres">
      <dgm:prSet presAssocID="{526D7629-4D65-4B89-91CD-75A1514E07E0}" presName="hierRoot1" presStyleCnt="0"/>
      <dgm:spPr/>
    </dgm:pt>
    <dgm:pt modelId="{93C0FDCF-8D99-4FF8-A630-6E4EF5498F14}" type="pres">
      <dgm:prSet presAssocID="{526D7629-4D65-4B89-91CD-75A1514E07E0}" presName="composite" presStyleCnt="0"/>
      <dgm:spPr/>
    </dgm:pt>
    <dgm:pt modelId="{DCDA90FD-C4DF-4769-AA44-74B1E9C8A3E3}" type="pres">
      <dgm:prSet presAssocID="{526D7629-4D65-4B89-91CD-75A1514E07E0}" presName="background" presStyleLbl="node0" presStyleIdx="0" presStyleCnt="2"/>
      <dgm:spPr/>
    </dgm:pt>
    <dgm:pt modelId="{29E1EA6A-4E99-4C33-AFA6-2C998062C187}" type="pres">
      <dgm:prSet presAssocID="{526D7629-4D65-4B89-91CD-75A1514E07E0}" presName="text" presStyleLbl="fgAcc0" presStyleIdx="0" presStyleCnt="2">
        <dgm:presLayoutVars>
          <dgm:chPref val="3"/>
        </dgm:presLayoutVars>
      </dgm:prSet>
      <dgm:spPr/>
    </dgm:pt>
    <dgm:pt modelId="{F0CE8600-8E76-4E50-BE87-20C01528A9C0}" type="pres">
      <dgm:prSet presAssocID="{526D7629-4D65-4B89-91CD-75A1514E07E0}" presName="hierChild2" presStyleCnt="0"/>
      <dgm:spPr/>
    </dgm:pt>
    <dgm:pt modelId="{539DCC0B-526B-4836-99CB-E0393211D1A9}" type="pres">
      <dgm:prSet presAssocID="{668E5C76-34DE-4403-A2C3-B3E98B6BCA51}" presName="hierRoot1" presStyleCnt="0"/>
      <dgm:spPr/>
    </dgm:pt>
    <dgm:pt modelId="{53014C61-14B5-4462-AD05-1A389F873265}" type="pres">
      <dgm:prSet presAssocID="{668E5C76-34DE-4403-A2C3-B3E98B6BCA51}" presName="composite" presStyleCnt="0"/>
      <dgm:spPr/>
    </dgm:pt>
    <dgm:pt modelId="{2595554B-5EC6-42C7-8271-8BB12FBCFA72}" type="pres">
      <dgm:prSet presAssocID="{668E5C76-34DE-4403-A2C3-B3E98B6BCA51}" presName="background" presStyleLbl="node0" presStyleIdx="1" presStyleCnt="2"/>
      <dgm:spPr/>
    </dgm:pt>
    <dgm:pt modelId="{F320886E-6388-47BD-A41C-9E82755883AA}" type="pres">
      <dgm:prSet presAssocID="{668E5C76-34DE-4403-A2C3-B3E98B6BCA51}" presName="text" presStyleLbl="fgAcc0" presStyleIdx="1" presStyleCnt="2">
        <dgm:presLayoutVars>
          <dgm:chPref val="3"/>
        </dgm:presLayoutVars>
      </dgm:prSet>
      <dgm:spPr/>
    </dgm:pt>
    <dgm:pt modelId="{5FC7F873-0A37-456F-A7BB-3D83CF2CB061}" type="pres">
      <dgm:prSet presAssocID="{668E5C76-34DE-4403-A2C3-B3E98B6BCA51}" presName="hierChild2" presStyleCnt="0"/>
      <dgm:spPr/>
    </dgm:pt>
  </dgm:ptLst>
  <dgm:cxnLst>
    <dgm:cxn modelId="{B069CB3A-CDFA-41A2-9FC5-9CE6067774DF}" srcId="{D184C194-AB76-4837-8AD1-1937B46051C8}" destId="{526D7629-4D65-4B89-91CD-75A1514E07E0}" srcOrd="0" destOrd="0" parTransId="{41AEF755-CE0C-4B39-9C85-76B9F620572A}" sibTransId="{792D0BBB-3999-4F4E-8D50-E740AC8E623B}"/>
    <dgm:cxn modelId="{813A206A-E5B5-4932-9A73-4948E95491D2}" type="presOf" srcId="{526D7629-4D65-4B89-91CD-75A1514E07E0}" destId="{29E1EA6A-4E99-4C33-AFA6-2C998062C187}" srcOrd="0" destOrd="0" presId="urn:microsoft.com/office/officeart/2005/8/layout/hierarchy1"/>
    <dgm:cxn modelId="{9CF60952-4815-488D-9778-80047ADF6EA7}" type="presOf" srcId="{D184C194-AB76-4837-8AD1-1937B46051C8}" destId="{B77DFDAB-37AA-490A-9D99-A46EEEB42421}" srcOrd="0" destOrd="0" presId="urn:microsoft.com/office/officeart/2005/8/layout/hierarchy1"/>
    <dgm:cxn modelId="{505CC354-E2EB-4C7C-9C21-AACF3106F0D5}" srcId="{D184C194-AB76-4837-8AD1-1937B46051C8}" destId="{668E5C76-34DE-4403-A2C3-B3E98B6BCA51}" srcOrd="1" destOrd="0" parTransId="{B39707B1-2166-4849-94C8-FF87ECCBB8A3}" sibTransId="{BC075CB5-EB50-496D-A332-5AE11388AA82}"/>
    <dgm:cxn modelId="{B4505883-F29F-4C1C-ACC2-62946B8C2462}" type="presOf" srcId="{668E5C76-34DE-4403-A2C3-B3E98B6BCA51}" destId="{F320886E-6388-47BD-A41C-9E82755883AA}" srcOrd="0" destOrd="0" presId="urn:microsoft.com/office/officeart/2005/8/layout/hierarchy1"/>
    <dgm:cxn modelId="{B7367DAA-E871-44FC-BA90-7B8BE37963C8}" type="presParOf" srcId="{B77DFDAB-37AA-490A-9D99-A46EEEB42421}" destId="{C00EA635-3218-4E88-9205-C6741840AB19}" srcOrd="0" destOrd="0" presId="urn:microsoft.com/office/officeart/2005/8/layout/hierarchy1"/>
    <dgm:cxn modelId="{21825705-75BC-4320-84D8-F809335DFF62}" type="presParOf" srcId="{C00EA635-3218-4E88-9205-C6741840AB19}" destId="{93C0FDCF-8D99-4FF8-A630-6E4EF5498F14}" srcOrd="0" destOrd="0" presId="urn:microsoft.com/office/officeart/2005/8/layout/hierarchy1"/>
    <dgm:cxn modelId="{42C70031-030E-4CC0-A1E1-87B45752A49B}" type="presParOf" srcId="{93C0FDCF-8D99-4FF8-A630-6E4EF5498F14}" destId="{DCDA90FD-C4DF-4769-AA44-74B1E9C8A3E3}" srcOrd="0" destOrd="0" presId="urn:microsoft.com/office/officeart/2005/8/layout/hierarchy1"/>
    <dgm:cxn modelId="{4E46A571-CD81-4527-97FC-75D629B17CF5}" type="presParOf" srcId="{93C0FDCF-8D99-4FF8-A630-6E4EF5498F14}" destId="{29E1EA6A-4E99-4C33-AFA6-2C998062C187}" srcOrd="1" destOrd="0" presId="urn:microsoft.com/office/officeart/2005/8/layout/hierarchy1"/>
    <dgm:cxn modelId="{3D72C34E-94D9-4F6B-BEBD-25FE570E1CF1}" type="presParOf" srcId="{C00EA635-3218-4E88-9205-C6741840AB19}" destId="{F0CE8600-8E76-4E50-BE87-20C01528A9C0}" srcOrd="1" destOrd="0" presId="urn:microsoft.com/office/officeart/2005/8/layout/hierarchy1"/>
    <dgm:cxn modelId="{904B0F3D-3346-4FC5-B456-6CC0FB676CCA}" type="presParOf" srcId="{B77DFDAB-37AA-490A-9D99-A46EEEB42421}" destId="{539DCC0B-526B-4836-99CB-E0393211D1A9}" srcOrd="1" destOrd="0" presId="urn:microsoft.com/office/officeart/2005/8/layout/hierarchy1"/>
    <dgm:cxn modelId="{7ED6E14C-A4CF-4E13-8FE4-09BF83E3C251}" type="presParOf" srcId="{539DCC0B-526B-4836-99CB-E0393211D1A9}" destId="{53014C61-14B5-4462-AD05-1A389F873265}" srcOrd="0" destOrd="0" presId="urn:microsoft.com/office/officeart/2005/8/layout/hierarchy1"/>
    <dgm:cxn modelId="{15AB2965-0750-45B8-BA39-7F5782D65533}" type="presParOf" srcId="{53014C61-14B5-4462-AD05-1A389F873265}" destId="{2595554B-5EC6-42C7-8271-8BB12FBCFA72}" srcOrd="0" destOrd="0" presId="urn:microsoft.com/office/officeart/2005/8/layout/hierarchy1"/>
    <dgm:cxn modelId="{A2FD1846-36A5-4309-9056-BDD02799BBD0}" type="presParOf" srcId="{53014C61-14B5-4462-AD05-1A389F873265}" destId="{F320886E-6388-47BD-A41C-9E82755883AA}" srcOrd="1" destOrd="0" presId="urn:microsoft.com/office/officeart/2005/8/layout/hierarchy1"/>
    <dgm:cxn modelId="{46E1CAE8-B392-4F2D-B9B0-387EE95F0D5B}" type="presParOf" srcId="{539DCC0B-526B-4836-99CB-E0393211D1A9}" destId="{5FC7F873-0A37-456F-A7BB-3D83CF2CB06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63CE3E-8FB4-440B-82B1-F875639EBFF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7856054-B8BB-447D-8941-49D20F5623EF}">
      <dgm:prSet/>
      <dgm:spPr/>
      <dgm:t>
        <a:bodyPr/>
        <a:lstStyle/>
        <a:p>
          <a:r>
            <a:rPr lang="en-US"/>
            <a:t>There was between 4232-4496 bike rentals per season.</a:t>
          </a:r>
        </a:p>
      </dgm:t>
    </dgm:pt>
    <dgm:pt modelId="{7A113568-2C15-41FF-B059-D052A4C6AB8E}" type="parTrans" cxnId="{5D337111-9AE8-408D-B6D1-A57C897A852A}">
      <dgm:prSet/>
      <dgm:spPr/>
      <dgm:t>
        <a:bodyPr/>
        <a:lstStyle/>
        <a:p>
          <a:endParaRPr lang="en-US"/>
        </a:p>
      </dgm:t>
    </dgm:pt>
    <dgm:pt modelId="{67477609-137D-4240-9D25-9096C398F81A}" type="sibTrans" cxnId="{5D337111-9AE8-408D-B6D1-A57C897A852A}">
      <dgm:prSet/>
      <dgm:spPr/>
      <dgm:t>
        <a:bodyPr/>
        <a:lstStyle/>
        <a:p>
          <a:endParaRPr lang="en-US"/>
        </a:p>
      </dgm:t>
    </dgm:pt>
    <dgm:pt modelId="{C4314E29-2567-4B9A-968B-2A484756AE69}">
      <dgm:prSet/>
      <dgm:spPr/>
      <dgm:t>
        <a:bodyPr/>
        <a:lstStyle/>
        <a:p>
          <a:r>
            <a:rPr lang="en-US"/>
            <a:t>Both models scored very highly in predictive scale.</a:t>
          </a:r>
        </a:p>
      </dgm:t>
    </dgm:pt>
    <dgm:pt modelId="{10418882-E9CD-4185-821C-0281D2AC2207}" type="parTrans" cxnId="{E94CD60B-4D73-46D9-9EA5-D1296B3A6F02}">
      <dgm:prSet/>
      <dgm:spPr/>
      <dgm:t>
        <a:bodyPr/>
        <a:lstStyle/>
        <a:p>
          <a:endParaRPr lang="en-US"/>
        </a:p>
      </dgm:t>
    </dgm:pt>
    <dgm:pt modelId="{BC21276F-F699-4A87-ADE4-AECA94C1E4E2}" type="sibTrans" cxnId="{E94CD60B-4D73-46D9-9EA5-D1296B3A6F02}">
      <dgm:prSet/>
      <dgm:spPr/>
      <dgm:t>
        <a:bodyPr/>
        <a:lstStyle/>
        <a:p>
          <a:endParaRPr lang="en-US"/>
        </a:p>
      </dgm:t>
    </dgm:pt>
    <dgm:pt modelId="{8972E3F7-0CF4-4D60-B836-790BEB707BB6}">
      <dgm:prSet/>
      <dgm:spPr/>
      <dgm:t>
        <a:bodyPr/>
        <a:lstStyle/>
        <a:p>
          <a:r>
            <a:rPr lang="en-US"/>
            <a:t>The hour of the day was most effective and the whether it was a work day, then week day were the top 3 predictors.</a:t>
          </a:r>
        </a:p>
      </dgm:t>
    </dgm:pt>
    <dgm:pt modelId="{5E08E057-19FC-4DF0-B500-946B3F7CC32B}" type="parTrans" cxnId="{E3B9013D-F8CC-41CE-8480-8CD4651C0CD4}">
      <dgm:prSet/>
      <dgm:spPr/>
      <dgm:t>
        <a:bodyPr/>
        <a:lstStyle/>
        <a:p>
          <a:endParaRPr lang="en-US"/>
        </a:p>
      </dgm:t>
    </dgm:pt>
    <dgm:pt modelId="{9E402A4F-C474-48C1-9F0E-AEFA00B23967}" type="sibTrans" cxnId="{E3B9013D-F8CC-41CE-8480-8CD4651C0CD4}">
      <dgm:prSet/>
      <dgm:spPr/>
      <dgm:t>
        <a:bodyPr/>
        <a:lstStyle/>
        <a:p>
          <a:endParaRPr lang="en-US"/>
        </a:p>
      </dgm:t>
    </dgm:pt>
    <dgm:pt modelId="{38AD92E8-C68E-4D10-8CBB-52F3C9FA1F47}" type="pres">
      <dgm:prSet presAssocID="{4B63CE3E-8FB4-440B-82B1-F875639EBFFC}" presName="root" presStyleCnt="0">
        <dgm:presLayoutVars>
          <dgm:dir/>
          <dgm:resizeHandles val="exact"/>
        </dgm:presLayoutVars>
      </dgm:prSet>
      <dgm:spPr/>
    </dgm:pt>
    <dgm:pt modelId="{EEB415D5-62AB-415C-AFF8-031EBEE0F324}" type="pres">
      <dgm:prSet presAssocID="{E7856054-B8BB-447D-8941-49D20F5623EF}" presName="compNode" presStyleCnt="0"/>
      <dgm:spPr/>
    </dgm:pt>
    <dgm:pt modelId="{A565A064-C5D9-4ED3-84D4-CDC313B19FA8}" type="pres">
      <dgm:prSet presAssocID="{E7856054-B8BB-447D-8941-49D20F5623E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ke"/>
        </a:ext>
      </dgm:extLst>
    </dgm:pt>
    <dgm:pt modelId="{FC607E89-E0B0-4258-94C2-5CC3544626E6}" type="pres">
      <dgm:prSet presAssocID="{E7856054-B8BB-447D-8941-49D20F5623EF}" presName="spaceRect" presStyleCnt="0"/>
      <dgm:spPr/>
    </dgm:pt>
    <dgm:pt modelId="{EB1C0CB2-3CFE-47D0-8EF4-0072119BEE94}" type="pres">
      <dgm:prSet presAssocID="{E7856054-B8BB-447D-8941-49D20F5623EF}" presName="textRect" presStyleLbl="revTx" presStyleIdx="0" presStyleCnt="3">
        <dgm:presLayoutVars>
          <dgm:chMax val="1"/>
          <dgm:chPref val="1"/>
        </dgm:presLayoutVars>
      </dgm:prSet>
      <dgm:spPr/>
    </dgm:pt>
    <dgm:pt modelId="{01F2460B-E29C-436B-B096-E4463DBDFE2D}" type="pres">
      <dgm:prSet presAssocID="{67477609-137D-4240-9D25-9096C398F81A}" presName="sibTrans" presStyleCnt="0"/>
      <dgm:spPr/>
    </dgm:pt>
    <dgm:pt modelId="{2AC0463A-7F6A-4541-A9F1-24A91BE8F95E}" type="pres">
      <dgm:prSet presAssocID="{C4314E29-2567-4B9A-968B-2A484756AE69}" presName="compNode" presStyleCnt="0"/>
      <dgm:spPr/>
    </dgm:pt>
    <dgm:pt modelId="{A8F7E6FC-3A39-413D-AFF6-9D3DF0605A34}" type="pres">
      <dgm:prSet presAssocID="{C4314E29-2567-4B9A-968B-2A484756AE6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8B74583-AA43-4ED7-B397-95997365AA1A}" type="pres">
      <dgm:prSet presAssocID="{C4314E29-2567-4B9A-968B-2A484756AE69}" presName="spaceRect" presStyleCnt="0"/>
      <dgm:spPr/>
    </dgm:pt>
    <dgm:pt modelId="{DF9AEAC4-0B7E-4614-AAB7-83DD0CB4E486}" type="pres">
      <dgm:prSet presAssocID="{C4314E29-2567-4B9A-968B-2A484756AE69}" presName="textRect" presStyleLbl="revTx" presStyleIdx="1" presStyleCnt="3">
        <dgm:presLayoutVars>
          <dgm:chMax val="1"/>
          <dgm:chPref val="1"/>
        </dgm:presLayoutVars>
      </dgm:prSet>
      <dgm:spPr/>
    </dgm:pt>
    <dgm:pt modelId="{85DC2FD9-DFE2-4D27-8D6F-FDF4299E110D}" type="pres">
      <dgm:prSet presAssocID="{BC21276F-F699-4A87-ADE4-AECA94C1E4E2}" presName="sibTrans" presStyleCnt="0"/>
      <dgm:spPr/>
    </dgm:pt>
    <dgm:pt modelId="{D0B3EFC1-D15B-4CD8-95B1-3C8B1D230158}" type="pres">
      <dgm:prSet presAssocID="{8972E3F7-0CF4-4D60-B836-790BEB707BB6}" presName="compNode" presStyleCnt="0"/>
      <dgm:spPr/>
    </dgm:pt>
    <dgm:pt modelId="{0295CDD8-A3C8-4AC5-A09E-40E8DB9E0C5D}" type="pres">
      <dgm:prSet presAssocID="{8972E3F7-0CF4-4D60-B836-790BEB707BB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9A91D1A6-54A1-48EF-853E-F5782F65E7D5}" type="pres">
      <dgm:prSet presAssocID="{8972E3F7-0CF4-4D60-B836-790BEB707BB6}" presName="spaceRect" presStyleCnt="0"/>
      <dgm:spPr/>
    </dgm:pt>
    <dgm:pt modelId="{F896D07C-B1C4-4764-92CE-7DC517012041}" type="pres">
      <dgm:prSet presAssocID="{8972E3F7-0CF4-4D60-B836-790BEB707BB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94CD60B-4D73-46D9-9EA5-D1296B3A6F02}" srcId="{4B63CE3E-8FB4-440B-82B1-F875639EBFFC}" destId="{C4314E29-2567-4B9A-968B-2A484756AE69}" srcOrd="1" destOrd="0" parTransId="{10418882-E9CD-4185-821C-0281D2AC2207}" sibTransId="{BC21276F-F699-4A87-ADE4-AECA94C1E4E2}"/>
    <dgm:cxn modelId="{6B6A9C0D-BCA9-4AD5-822F-C140ADB35EB5}" type="presOf" srcId="{8972E3F7-0CF4-4D60-B836-790BEB707BB6}" destId="{F896D07C-B1C4-4764-92CE-7DC517012041}" srcOrd="0" destOrd="0" presId="urn:microsoft.com/office/officeart/2018/2/layout/IconLabelList"/>
    <dgm:cxn modelId="{5D337111-9AE8-408D-B6D1-A57C897A852A}" srcId="{4B63CE3E-8FB4-440B-82B1-F875639EBFFC}" destId="{E7856054-B8BB-447D-8941-49D20F5623EF}" srcOrd="0" destOrd="0" parTransId="{7A113568-2C15-41FF-B059-D052A4C6AB8E}" sibTransId="{67477609-137D-4240-9D25-9096C398F81A}"/>
    <dgm:cxn modelId="{FE881128-9D81-4F91-B202-DECD7C64E79D}" type="presOf" srcId="{E7856054-B8BB-447D-8941-49D20F5623EF}" destId="{EB1C0CB2-3CFE-47D0-8EF4-0072119BEE94}" srcOrd="0" destOrd="0" presId="urn:microsoft.com/office/officeart/2018/2/layout/IconLabelList"/>
    <dgm:cxn modelId="{E7D25733-71AD-4439-AA19-548A13368C57}" type="presOf" srcId="{C4314E29-2567-4B9A-968B-2A484756AE69}" destId="{DF9AEAC4-0B7E-4614-AAB7-83DD0CB4E486}" srcOrd="0" destOrd="0" presId="urn:microsoft.com/office/officeart/2018/2/layout/IconLabelList"/>
    <dgm:cxn modelId="{E3B9013D-F8CC-41CE-8480-8CD4651C0CD4}" srcId="{4B63CE3E-8FB4-440B-82B1-F875639EBFFC}" destId="{8972E3F7-0CF4-4D60-B836-790BEB707BB6}" srcOrd="2" destOrd="0" parTransId="{5E08E057-19FC-4DF0-B500-946B3F7CC32B}" sibTransId="{9E402A4F-C474-48C1-9F0E-AEFA00B23967}"/>
    <dgm:cxn modelId="{5B8A5E4E-6FC4-42E2-8A6C-133AEE5230E8}" type="presOf" srcId="{4B63CE3E-8FB4-440B-82B1-F875639EBFFC}" destId="{38AD92E8-C68E-4D10-8CBB-52F3C9FA1F47}" srcOrd="0" destOrd="0" presId="urn:microsoft.com/office/officeart/2018/2/layout/IconLabelList"/>
    <dgm:cxn modelId="{788A7533-3DAC-4284-BE8F-405A75E8E803}" type="presParOf" srcId="{38AD92E8-C68E-4D10-8CBB-52F3C9FA1F47}" destId="{EEB415D5-62AB-415C-AFF8-031EBEE0F324}" srcOrd="0" destOrd="0" presId="urn:microsoft.com/office/officeart/2018/2/layout/IconLabelList"/>
    <dgm:cxn modelId="{5A809535-9553-4E6A-BE96-0E86436AE141}" type="presParOf" srcId="{EEB415D5-62AB-415C-AFF8-031EBEE0F324}" destId="{A565A064-C5D9-4ED3-84D4-CDC313B19FA8}" srcOrd="0" destOrd="0" presId="urn:microsoft.com/office/officeart/2018/2/layout/IconLabelList"/>
    <dgm:cxn modelId="{41C7EA81-1EAE-4002-B6B3-B03CA2BBF14B}" type="presParOf" srcId="{EEB415D5-62AB-415C-AFF8-031EBEE0F324}" destId="{FC607E89-E0B0-4258-94C2-5CC3544626E6}" srcOrd="1" destOrd="0" presId="urn:microsoft.com/office/officeart/2018/2/layout/IconLabelList"/>
    <dgm:cxn modelId="{F04AD98B-7F47-4BCD-A177-4F68C496EFF8}" type="presParOf" srcId="{EEB415D5-62AB-415C-AFF8-031EBEE0F324}" destId="{EB1C0CB2-3CFE-47D0-8EF4-0072119BEE94}" srcOrd="2" destOrd="0" presId="urn:microsoft.com/office/officeart/2018/2/layout/IconLabelList"/>
    <dgm:cxn modelId="{994ABA7E-C03D-478F-9600-D323663262E1}" type="presParOf" srcId="{38AD92E8-C68E-4D10-8CBB-52F3C9FA1F47}" destId="{01F2460B-E29C-436B-B096-E4463DBDFE2D}" srcOrd="1" destOrd="0" presId="urn:microsoft.com/office/officeart/2018/2/layout/IconLabelList"/>
    <dgm:cxn modelId="{E40511F0-E665-4074-A9A0-862DA317C171}" type="presParOf" srcId="{38AD92E8-C68E-4D10-8CBB-52F3C9FA1F47}" destId="{2AC0463A-7F6A-4541-A9F1-24A91BE8F95E}" srcOrd="2" destOrd="0" presId="urn:microsoft.com/office/officeart/2018/2/layout/IconLabelList"/>
    <dgm:cxn modelId="{035FE072-9C0A-42E4-B335-49CBAF5764EB}" type="presParOf" srcId="{2AC0463A-7F6A-4541-A9F1-24A91BE8F95E}" destId="{A8F7E6FC-3A39-413D-AFF6-9D3DF0605A34}" srcOrd="0" destOrd="0" presId="urn:microsoft.com/office/officeart/2018/2/layout/IconLabelList"/>
    <dgm:cxn modelId="{83A7FE31-3DC1-4C2F-BF0F-EC225AD6C3B0}" type="presParOf" srcId="{2AC0463A-7F6A-4541-A9F1-24A91BE8F95E}" destId="{18B74583-AA43-4ED7-B397-95997365AA1A}" srcOrd="1" destOrd="0" presId="urn:microsoft.com/office/officeart/2018/2/layout/IconLabelList"/>
    <dgm:cxn modelId="{0BD61C07-85F6-4CE4-91AE-AD1FEEE535C6}" type="presParOf" srcId="{2AC0463A-7F6A-4541-A9F1-24A91BE8F95E}" destId="{DF9AEAC4-0B7E-4614-AAB7-83DD0CB4E486}" srcOrd="2" destOrd="0" presId="urn:microsoft.com/office/officeart/2018/2/layout/IconLabelList"/>
    <dgm:cxn modelId="{0C0C974B-802E-4A3B-80FC-1AF708E783F0}" type="presParOf" srcId="{38AD92E8-C68E-4D10-8CBB-52F3C9FA1F47}" destId="{85DC2FD9-DFE2-4D27-8D6F-FDF4299E110D}" srcOrd="3" destOrd="0" presId="urn:microsoft.com/office/officeart/2018/2/layout/IconLabelList"/>
    <dgm:cxn modelId="{B7EE392E-1136-46D8-B751-1401768641A5}" type="presParOf" srcId="{38AD92E8-C68E-4D10-8CBB-52F3C9FA1F47}" destId="{D0B3EFC1-D15B-4CD8-95B1-3C8B1D230158}" srcOrd="4" destOrd="0" presId="urn:microsoft.com/office/officeart/2018/2/layout/IconLabelList"/>
    <dgm:cxn modelId="{D81E2906-67EC-444B-8DD2-1E87E43587D4}" type="presParOf" srcId="{D0B3EFC1-D15B-4CD8-95B1-3C8B1D230158}" destId="{0295CDD8-A3C8-4AC5-A09E-40E8DB9E0C5D}" srcOrd="0" destOrd="0" presId="urn:microsoft.com/office/officeart/2018/2/layout/IconLabelList"/>
    <dgm:cxn modelId="{D151DACC-D003-452D-A5D3-74A29EBD57B9}" type="presParOf" srcId="{D0B3EFC1-D15B-4CD8-95B1-3C8B1D230158}" destId="{9A91D1A6-54A1-48EF-853E-F5782F65E7D5}" srcOrd="1" destOrd="0" presId="urn:microsoft.com/office/officeart/2018/2/layout/IconLabelList"/>
    <dgm:cxn modelId="{AA7D5BDE-09E4-41F0-B38E-30DA0C8634A4}" type="presParOf" srcId="{D0B3EFC1-D15B-4CD8-95B1-3C8B1D230158}" destId="{F896D07C-B1C4-4764-92CE-7DC51701204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DA90FD-C4DF-4769-AA44-74B1E9C8A3E3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E1EA6A-4E99-4C33-AFA6-2C998062C187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Random Forest model: r^2 of .9357, rmse of 45.8260</a:t>
          </a:r>
        </a:p>
      </dsp:txBody>
      <dsp:txXfrm>
        <a:off x="696297" y="538547"/>
        <a:ext cx="4171627" cy="2590157"/>
      </dsp:txXfrm>
    </dsp:sp>
    <dsp:sp modelId="{2595554B-5EC6-42C7-8271-8BB12FBCFA72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20886E-6388-47BD-A41C-9E82755883AA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Gradient Boosting model r^2 of .9181, rmse of 51.6878</a:t>
          </a:r>
        </a:p>
      </dsp:txBody>
      <dsp:txXfrm>
        <a:off x="5991936" y="538547"/>
        <a:ext cx="4171627" cy="2590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65A064-C5D9-4ED3-84D4-CDC313B19FA8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1C0CB2-3CFE-47D0-8EF4-0072119BEE94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There was between 4232-4496 bike rentals per season.</a:t>
          </a:r>
        </a:p>
      </dsp:txBody>
      <dsp:txXfrm>
        <a:off x="417971" y="2644140"/>
        <a:ext cx="2889450" cy="720000"/>
      </dsp:txXfrm>
    </dsp:sp>
    <dsp:sp modelId="{A8F7E6FC-3A39-413D-AFF6-9D3DF0605A34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9AEAC4-0B7E-4614-AAB7-83DD0CB4E486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Both models scored very highly in predictive scale.</a:t>
          </a:r>
        </a:p>
      </dsp:txBody>
      <dsp:txXfrm>
        <a:off x="3813075" y="2644140"/>
        <a:ext cx="2889450" cy="720000"/>
      </dsp:txXfrm>
    </dsp:sp>
    <dsp:sp modelId="{0295CDD8-A3C8-4AC5-A09E-40E8DB9E0C5D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96D07C-B1C4-4764-92CE-7DC517012041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The hour of the day was most effective and the whether it was a work day, then week day were the top 3 predictors.</a:t>
          </a:r>
        </a:p>
      </dsp:txBody>
      <dsp:txXfrm>
        <a:off x="7208178" y="2644140"/>
        <a:ext cx="28894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BE20F-5F95-EB8B-4ED9-5065901B9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F43D25-A496-C6A7-4C8E-088E0D47F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44C5E-D307-C41C-C937-9FD410CA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C1BDF-957C-4AE5-A179-D1B224BCBF5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0CA13-376C-5329-C7D3-B7A82784A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338B2-FBA9-C71E-5ABC-FA37C96DF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C548B-D0F1-42E2-B394-31E975972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67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C312-10C4-9136-456E-4DD24B5F6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6A600-A28C-0E61-B87E-5861A5095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DA78F-BEC4-E786-7BD7-B8CF94738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C1BDF-957C-4AE5-A179-D1B224BCBF5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BEADE-1C2E-E3D4-1074-A1489C418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2E65E-2DD6-2724-3E53-B96D087CC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C548B-D0F1-42E2-B394-31E975972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82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E1B49-577F-D3DB-4C92-CA5F46AE2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57149-3DA7-502C-3757-5E2FBCFCF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E29AA-2D37-648A-F39D-EC35FDC41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C1BDF-957C-4AE5-A179-D1B224BCBF5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2E143-1080-403D-3482-787B9CAA4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347C7-7818-80E0-20F7-70099AB7A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C548B-D0F1-42E2-B394-31E975972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1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BF34B-8786-4D1A-A6AD-198BA7EEA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BBE09-45BC-8341-D615-1B7DAE4B9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E8915-026F-5E08-617D-359E241F9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78B54-72CE-DEFF-B853-D7E0DB7C8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C1BDF-957C-4AE5-A179-D1B224BCBF5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8557F-6305-48B1-7BB7-B8DA4F91E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A7D1B-BC1F-874B-5E86-A6C750523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C548B-D0F1-42E2-B394-31E975972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27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B7E07-DFED-04A5-7629-0B10C5F33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F09D9-A02E-3F7E-B385-39F416FD7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D1FBBA-2647-98CC-9AE3-ABF6A85DE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B211CD-9E55-8108-3BB8-3DB516A5F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FC748F-5ADD-4F16-0B15-D11E45173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4A0B3A-40C3-3910-6987-26750ABDB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C1BDF-957C-4AE5-A179-D1B224BCBF5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E25DE9-CC01-20E7-DC18-4C9EF1518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7A1A93-7BF5-E1FD-48F0-9587591B8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C548B-D0F1-42E2-B394-31E975972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181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F09FA-1848-DC03-6543-9093BA61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1869DD-1B4E-9C37-390E-D0690FEF4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C1BDF-957C-4AE5-A179-D1B224BCBF5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17206-DBC9-2413-A464-F7C2E367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A8247-9369-00E2-E75A-EE8878A87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C548B-D0F1-42E2-B394-31E975972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332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942F85-83B4-A54A-8807-B33044A39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C1BDF-957C-4AE5-A179-D1B224BCBF5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80B12D-BE1E-9837-B702-84AD4F9C7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2A05D-96D3-D96A-5BAA-453A30EC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C548B-D0F1-42E2-B394-31E975972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47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F0107-3CD9-3BBB-21B2-72BC84BEE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4844D-1574-F1D8-8986-5D0B55D3D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57A31F-660C-3564-9C30-39D9AE958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A567C-1CA8-0AC5-777A-465CFD98A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C1BDF-957C-4AE5-A179-D1B224BCBF5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62775-BF3A-AC0B-5C7B-88ED314F2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0B267-1C31-E3FE-3113-3E0B52802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C548B-D0F1-42E2-B394-31E975972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617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9F639-716A-8657-DF33-6D06497DB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DB9EDB-02B6-E818-E0CD-680A9327D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8B814-A4D3-6B7C-7331-B08277A7D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B01C3-BF06-8887-101A-F944C7D18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C1BDF-957C-4AE5-A179-D1B224BCBF5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1E844-CBF9-7651-99FF-A18A7FC4E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C9511-D354-C2B1-8C4D-F9CF842A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C548B-D0F1-42E2-B394-31E975972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66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1E753-4EB0-6285-A4C9-A25B93AFC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C4569-4199-BEB2-FBEA-B679B7A17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9553A-4589-7D38-A22E-095ADF4A8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C1BDF-957C-4AE5-A179-D1B224BCBF5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0A23F-B65B-9725-5E9C-4A5A22F37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4942C-D213-8480-C16C-F6074F45A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C548B-D0F1-42E2-B394-31E975972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57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988F2D-9F15-FD87-3258-1843C884AA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FF4675-CEAA-09D6-1624-559F8F0BA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19B62-60FF-13A4-B129-F1AF9E7F7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C1BDF-957C-4AE5-A179-D1B224BCBF5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D5504-ABFC-D608-415D-5ADC5FB57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CFC1D-0F8D-3390-4BBC-AD0990DDC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C548B-D0F1-42E2-B394-31E975972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15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28A319-941E-569E-E787-1FE1FE04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CD0A4-45F5-51FB-28D9-3C110B669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8F03C-A637-4DFD-6FAC-DAF5D80F8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6C1BDF-957C-4AE5-A179-D1B224BCBF5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D472E-2A14-3B5A-0E37-0C24CB3F2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5BAF1-B9BC-F862-2E4F-ADD334A20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C548B-D0F1-42E2-B394-31E975972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60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16DC39-E277-35CC-BF34-8792ACA12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7200" dirty="0"/>
              <a:t>Bike Data for Capital Bikeshare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D37114-2343-8973-F683-7D4952AFC3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US" sz="2800"/>
              <a:t>Sal Pusateri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1012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9A8110-5850-5084-C870-D3F0C0FBD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2536F-6905-02A0-4F9E-940BDCA5F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Project Overview</a:t>
            </a:r>
          </a:p>
          <a:p>
            <a:r>
              <a:rPr lang="en-US" sz="2000" dirty="0"/>
              <a:t>The data</a:t>
            </a:r>
          </a:p>
          <a:p>
            <a:r>
              <a:rPr lang="en-US" sz="2000" dirty="0"/>
              <a:t>Models</a:t>
            </a:r>
          </a:p>
          <a:p>
            <a:r>
              <a:rPr lang="en-US" sz="2000" dirty="0"/>
              <a:t>Results</a:t>
            </a:r>
          </a:p>
          <a:p>
            <a:r>
              <a:rPr lang="en-US" sz="2000" dirty="0"/>
              <a:t>Application/Constraints</a:t>
            </a:r>
          </a:p>
          <a:p>
            <a:r>
              <a:rPr lang="en-US" sz="2000" dirty="0"/>
              <a:t>Revenues/Costs</a:t>
            </a:r>
          </a:p>
          <a:p>
            <a:r>
              <a:rPr lang="en-US" sz="2000" dirty="0"/>
              <a:t>Conclusion</a:t>
            </a:r>
          </a:p>
          <a:p>
            <a:endParaRPr lang="en-US" sz="2000" dirty="0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A4B2028E-6882-F34A-263F-D3AEB6070B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8" r="35581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567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FEC316-5C2D-11EF-A954-E3F6319E9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35AAE-C95C-1171-FCE5-BAADED44C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900"/>
              <a:t> To review and report on any findings in the data pre-modeling</a:t>
            </a:r>
          </a:p>
          <a:p>
            <a:r>
              <a:rPr lang="en-US" sz="1900"/>
              <a:t>To construct predictive models on when rental bikes are utilized (rented) most to help with planning purposes in regards to expanding this project to more cities.</a:t>
            </a:r>
          </a:p>
          <a:p>
            <a:r>
              <a:rPr lang="en-US" sz="1900"/>
              <a:t>To check feasibility of these expansions, meaning if they are self sufficient or would require additional funding to cover the costs of implementation.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587556-2CA8-FBCA-2F81-DC6E4B255F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52" r="18380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160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BF65200E-BE19-61BA-8C12-E73CE7790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4850097"/>
            <a:ext cx="12202175" cy="2021488"/>
            <a:chOff x="-1" y="-29768"/>
            <a:chExt cx="12202175" cy="1519356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DCB7929-1F93-E966-9A22-29A959C2A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E9333BF-F59E-1341-F162-50F5832385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F345832-F005-417F-6A2A-8481A275FF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962663" y="-3992432"/>
              <a:ext cx="1519356" cy="944468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9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101E3A-53FD-A3DA-F415-7DFB3C453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630" y="5167418"/>
            <a:ext cx="8949690" cy="7022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</a:rPr>
              <a:t>What does the data look like?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B9B9F8-B4C7-39AA-C97A-186CC9373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37" y="869989"/>
            <a:ext cx="5573245" cy="3661818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D32E6DF-D8CC-F5DB-BD3F-41AECC84C8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318" y="870390"/>
            <a:ext cx="4896744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49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61044-185B-DCF6-A628-C7C5C7B26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Models and accuracy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156BFE-3794-59EA-AE54-A8771A7984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614901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0173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A355D0-4BD2-F760-5D82-5F53CE70A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C7D88F-6FFB-67AB-384F-62569852C2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5353717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7840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A4706E-C87E-D5E2-2662-709080227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Application, what does this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CB51-ADB4-7748-3BC7-EBFDD5E09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/>
              <a:t>Many factors control people’s tendency to rent the bikes, most of which are unchangeable.</a:t>
            </a:r>
          </a:p>
          <a:p>
            <a:r>
              <a:rPr lang="en-US" sz="2000"/>
              <a:t>What can be changed then?</a:t>
            </a:r>
          </a:p>
          <a:p>
            <a:endParaRPr lang="en-US" sz="2000"/>
          </a:p>
          <a:p>
            <a:endParaRPr lang="en-US" sz="2000"/>
          </a:p>
        </p:txBody>
      </p:sp>
      <p:pic>
        <p:nvPicPr>
          <p:cNvPr id="5" name="Picture 4" descr="Vintage bike parked on country road at sunset">
            <a:extLst>
              <a:ext uri="{FF2B5EF4-FFF2-40B4-BE49-F238E27FC236}">
                <a16:creationId xmlns:a16="http://schemas.microsoft.com/office/drawing/2014/main" id="{CF783DAB-2473-5AA2-3458-51C7D8D42A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320" r="4280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271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5" y="-1500"/>
            <a:ext cx="8119933" cy="6858001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0659F6-0853-468D-B1B2-44FDBE98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72" y="-3000"/>
            <a:ext cx="12201265" cy="6859501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0"/>
            <a:ext cx="11718098" cy="6858000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D12201-C88A-7893-F4DD-894098B00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654" y="322554"/>
            <a:ext cx="9932691" cy="1165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Maps for alternatives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7ACDD7-882D-4B81-A213-84C82B96B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2888341"/>
            <a:ext cx="12203819" cy="396815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543EDA-A797-921D-C0C1-734D1B9CE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00" y="1580902"/>
            <a:ext cx="4533408" cy="4954544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4E4366-89CD-DA42-7F20-41C9F7B032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944" y="1580902"/>
            <a:ext cx="7075674" cy="491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467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55C5B6-4C67-B41A-66C1-39F67C349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600"/>
              <a:t>Economically speaking, what are we seeing?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B3AB4-E31B-4A11-1C64-7139AA858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/>
              <a:t>Initial cost: $400–$800 </a:t>
            </a:r>
          </a:p>
          <a:p>
            <a:r>
              <a:rPr lang="en-US" sz="1700" dirty="0"/>
              <a:t>Maintenance: $200-$300</a:t>
            </a:r>
          </a:p>
          <a:p>
            <a:r>
              <a:rPr lang="en-US" sz="1700" dirty="0"/>
              <a:t>Every bike needs to at least cover maintenance and pick up costs.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BC85A4-AE20-D5FF-1C13-3EDD165B9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607" y="1527350"/>
            <a:ext cx="7410656" cy="400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935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43417-487F-4127-A0A6-6A4C53BA6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B1CFD-ED42-AFF7-755F-219EBE6AB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The system is effective and we can operate around peak usage times or lulls in the system.</a:t>
            </a:r>
          </a:p>
          <a:p>
            <a:r>
              <a:rPr lang="en-US" sz="2000" dirty="0"/>
              <a:t>The data was clean and we can effectively predict the rentals.</a:t>
            </a:r>
          </a:p>
          <a:p>
            <a:r>
              <a:rPr lang="en-US" sz="2000" dirty="0"/>
              <a:t>Finally, we can use this data for expansion or maximizing profits.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001AEECF-48CB-B884-87C7-27904F6CA0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87" r="25095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55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281</Words>
  <Application>Microsoft Office PowerPoint</Application>
  <PresentationFormat>Widescreen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Bike Data for Capital Bikeshare</vt:lpstr>
      <vt:lpstr>Overview</vt:lpstr>
      <vt:lpstr>Project objectives</vt:lpstr>
      <vt:lpstr>What does the data look like? </vt:lpstr>
      <vt:lpstr>Models and accuracy</vt:lpstr>
      <vt:lpstr>Results</vt:lpstr>
      <vt:lpstr>Application, what does this mean?</vt:lpstr>
      <vt:lpstr>Maps for alternatives</vt:lpstr>
      <vt:lpstr>Economically speaking, what are we seeing?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Salvatore M. Pusateri</dc:creator>
  <cp:lastModifiedBy>Salvatore M. Pusateri</cp:lastModifiedBy>
  <cp:revision>1</cp:revision>
  <dcterms:created xsi:type="dcterms:W3CDTF">2026-04-28T13:21:04Z</dcterms:created>
  <dcterms:modified xsi:type="dcterms:W3CDTF">2026-04-28T14:20:36Z</dcterms:modified>
</cp:coreProperties>
</file>