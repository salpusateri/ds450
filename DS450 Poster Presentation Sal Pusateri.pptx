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8"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13" autoAdjust="0"/>
  </p:normalViewPr>
  <p:slideViewPr>
    <p:cSldViewPr snapToGrid="0" snapToObjects="1" showGuides="1">
      <p:cViewPr varScale="1">
        <p:scale>
          <a:sx n="16" d="100"/>
          <a:sy n="16" d="100"/>
        </p:scale>
        <p:origin x="2011" y="101"/>
      </p:cViewPr>
      <p:guideLst>
        <p:guide orient="horz" pos="3318"/>
        <p:guide orient="horz" pos="288"/>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3/19/2026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3/19/2026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l">
              <a:buClr>
                <a:schemeClr val="accent1"/>
              </a:buClr>
              <a:buSzPct val="100000"/>
              <a:buFont typeface="Wingdings" pitchFamily="2" charset="2"/>
              <a:buNone/>
              <a:defRPr sz="3700" b="1" u="sng" baseline="0">
                <a:solidFill>
                  <a:schemeClr val="accent1"/>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127915"/>
            <a:ext cx="31998968" cy="1280160"/>
          </a:xfrm>
          <a:prstGeom prst="rect">
            <a:avLst/>
          </a:prstGeom>
        </p:spPr>
        <p:txBody>
          <a:bodyPr>
            <a:normAutofit/>
          </a:bodyPr>
          <a:lstStyle>
            <a:lvl1pPr marL="0" indent="0" algn="ctr">
              <a:buFontTx/>
              <a:buNone/>
              <a:defRPr sz="54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847755"/>
            <a:ext cx="31998968" cy="1280160"/>
          </a:xfrm>
          <a:prstGeom prst="rect">
            <a:avLst/>
          </a:prstGeom>
        </p:spPr>
        <p:txBody>
          <a:bodyPr anchor="t" anchorCtr="1">
            <a:normAutofit/>
          </a:bodyPr>
          <a:lstStyle>
            <a:lvl1pPr marL="0" indent="0" algn="ctr">
              <a:buFontTx/>
              <a:buNone/>
              <a:defRPr sz="8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1"/>
            <a:ext cx="31998968" cy="1637973"/>
          </a:xfrm>
          <a:prstGeom prst="rect">
            <a:avLst/>
          </a:prstGeom>
        </p:spPr>
        <p:txBody>
          <a:bodyPr anchor="t" anchorCtr="1">
            <a:normAutofit/>
          </a:bodyPr>
          <a:lstStyle>
            <a:lvl1pPr marL="0" indent="0" algn="ctr">
              <a:buFontTx/>
              <a:buNone/>
              <a:defRPr sz="9600" b="1">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36598284-F28D-A64F-83EE-A86CA6EC938B}"/>
              </a:ext>
            </a:extLst>
          </p:cNvPr>
          <p:cNvSpPr/>
          <p:nvPr userDrawn="1"/>
        </p:nvSpPr>
        <p:spPr>
          <a:xfrm rot="10800000">
            <a:off x="0" y="31365486"/>
            <a:ext cx="43891200" cy="1549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A8CE8E3-AE08-7141-8144-8FB830A2D4B4}"/>
              </a:ext>
            </a:extLst>
          </p:cNvPr>
          <p:cNvSpPr/>
          <p:nvPr userDrawn="1"/>
        </p:nvSpPr>
        <p:spPr>
          <a:xfrm>
            <a:off x="0" y="1"/>
            <a:ext cx="43891200" cy="44927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
        <p:nvSpPr>
          <p:cNvPr id="35" name="Text Box 14">
            <a:extLst>
              <a:ext uri="{FF2B5EF4-FFF2-40B4-BE49-F238E27FC236}">
                <a16:creationId xmlns:a16="http://schemas.microsoft.com/office/drawing/2014/main" id="{3FFCB1CF-053D-954E-8947-A06DFECB49EC}"/>
              </a:ext>
            </a:extLst>
          </p:cNvPr>
          <p:cNvSpPr txBox="1">
            <a:spLocks noChangeArrowheads="1"/>
          </p:cNvSpPr>
          <p:nvPr userDrawn="1"/>
        </p:nvSpPr>
        <p:spPr bwMode="auto">
          <a:xfrm>
            <a:off x="1128393" y="31971938"/>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0B91B61-1BF7-CF4F-A115-F49A79331A94}"/>
              </a:ext>
            </a:extLst>
          </p:cNvPr>
          <p:cNvSpPr/>
          <p:nvPr userDrawn="1"/>
        </p:nvSpPr>
        <p:spPr>
          <a:xfrm rot="10800000">
            <a:off x="0" y="31365486"/>
            <a:ext cx="43891200" cy="15497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3DC4674-0CF7-354A-A116-FE36983B2F8A}"/>
              </a:ext>
            </a:extLst>
          </p:cNvPr>
          <p:cNvSpPr/>
          <p:nvPr userDrawn="1"/>
        </p:nvSpPr>
        <p:spPr>
          <a:xfrm>
            <a:off x="0" y="1"/>
            <a:ext cx="43891200" cy="44927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Box 14">
            <a:extLst>
              <a:ext uri="{FF2B5EF4-FFF2-40B4-BE49-F238E27FC236}">
                <a16:creationId xmlns:a16="http://schemas.microsoft.com/office/drawing/2014/main" id="{DE33BC39-810B-224F-8803-2E61979327C9}"/>
              </a:ext>
            </a:extLst>
          </p:cNvPr>
          <p:cNvSpPr txBox="1">
            <a:spLocks noChangeArrowheads="1"/>
          </p:cNvSpPr>
          <p:nvPr userDrawn="1"/>
        </p:nvSpPr>
        <p:spPr bwMode="auto">
          <a:xfrm>
            <a:off x="1128393" y="31971938"/>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8" name="Text Placeholder 3">
            <a:extLst>
              <a:ext uri="{FF2B5EF4-FFF2-40B4-BE49-F238E27FC236}">
                <a16:creationId xmlns:a16="http://schemas.microsoft.com/office/drawing/2014/main" id="{5DD732AC-3E9E-AA4A-B182-B91BD39117A4}"/>
              </a:ext>
            </a:extLst>
          </p:cNvPr>
          <p:cNvSpPr txBox="1">
            <a:spLocks/>
          </p:cNvSpPr>
          <p:nvPr userDrawn="1"/>
        </p:nvSpPr>
        <p:spPr>
          <a:xfrm>
            <a:off x="459674" y="6378481"/>
            <a:ext cx="10056813"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9" name="Text Placeholder 5">
            <a:extLst>
              <a:ext uri="{FF2B5EF4-FFF2-40B4-BE49-F238E27FC236}">
                <a16:creationId xmlns:a16="http://schemas.microsoft.com/office/drawing/2014/main" id="{609F4039-E820-734C-ADDF-D84CC5DAE2AE}"/>
              </a:ext>
            </a:extLst>
          </p:cNvPr>
          <p:cNvSpPr txBox="1">
            <a:spLocks/>
          </p:cNvSpPr>
          <p:nvPr userDrawn="1"/>
        </p:nvSpPr>
        <p:spPr>
          <a:xfrm>
            <a:off x="477827" y="5548749"/>
            <a:ext cx="10048875" cy="754045"/>
          </a:xfrm>
          <a:prstGeom prst="rect">
            <a:avLst/>
          </a:prstGeom>
          <a:noFill/>
        </p:spPr>
        <p:txBody>
          <a:bodyPr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INTRODUCTION or ABSTRACT</a:t>
            </a:r>
            <a:endParaRPr lang="en-US" dirty="0"/>
          </a:p>
        </p:txBody>
      </p:sp>
      <p:sp>
        <p:nvSpPr>
          <p:cNvPr id="11" name="Text Placeholder 5">
            <a:extLst>
              <a:ext uri="{FF2B5EF4-FFF2-40B4-BE49-F238E27FC236}">
                <a16:creationId xmlns:a16="http://schemas.microsoft.com/office/drawing/2014/main" id="{9E0C7155-99EC-7148-984A-9AED97984EBE}"/>
              </a:ext>
            </a:extLst>
          </p:cNvPr>
          <p:cNvSpPr txBox="1">
            <a:spLocks/>
          </p:cNvSpPr>
          <p:nvPr userDrawn="1"/>
        </p:nvSpPr>
        <p:spPr>
          <a:xfrm>
            <a:off x="477825" y="14212513"/>
            <a:ext cx="10050462"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OBJECTIVES</a:t>
            </a:r>
            <a:endParaRPr lang="en-US" dirty="0"/>
          </a:p>
        </p:txBody>
      </p:sp>
      <p:sp>
        <p:nvSpPr>
          <p:cNvPr id="12" name="Text Placeholder 3">
            <a:extLst>
              <a:ext uri="{FF2B5EF4-FFF2-40B4-BE49-F238E27FC236}">
                <a16:creationId xmlns:a16="http://schemas.microsoft.com/office/drawing/2014/main" id="{FD6EF4D6-BCDF-0E4D-8328-4D5259E0E1AF}"/>
              </a:ext>
            </a:extLst>
          </p:cNvPr>
          <p:cNvSpPr txBox="1">
            <a:spLocks/>
          </p:cNvSpPr>
          <p:nvPr userDrawn="1"/>
        </p:nvSpPr>
        <p:spPr>
          <a:xfrm>
            <a:off x="11460161" y="6378481"/>
            <a:ext cx="10048874"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3" name="Text Placeholder 5">
            <a:extLst>
              <a:ext uri="{FF2B5EF4-FFF2-40B4-BE49-F238E27FC236}">
                <a16:creationId xmlns:a16="http://schemas.microsoft.com/office/drawing/2014/main" id="{F03D84C9-4789-2645-A0D4-1041D18D8A3D}"/>
              </a:ext>
            </a:extLst>
          </p:cNvPr>
          <p:cNvSpPr txBox="1">
            <a:spLocks/>
          </p:cNvSpPr>
          <p:nvPr userDrawn="1"/>
        </p:nvSpPr>
        <p:spPr>
          <a:xfrm>
            <a:off x="11460162" y="5548749"/>
            <a:ext cx="10048875" cy="754045"/>
          </a:xfrm>
          <a:prstGeom prst="rect">
            <a:avLst/>
          </a:prstGeom>
          <a:noFill/>
        </p:spPr>
        <p:txBody>
          <a:bodyPr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MATERIALS &amp; METHODS</a:t>
            </a:r>
            <a:endParaRPr lang="en-US" dirty="0"/>
          </a:p>
        </p:txBody>
      </p:sp>
      <p:sp>
        <p:nvSpPr>
          <p:cNvPr id="14" name="Text Placeholder 3">
            <a:extLst>
              <a:ext uri="{FF2B5EF4-FFF2-40B4-BE49-F238E27FC236}">
                <a16:creationId xmlns:a16="http://schemas.microsoft.com/office/drawing/2014/main" id="{48B0F29A-1496-164F-B7A8-A71F3831EAD6}"/>
              </a:ext>
            </a:extLst>
          </p:cNvPr>
          <p:cNvSpPr txBox="1">
            <a:spLocks/>
          </p:cNvSpPr>
          <p:nvPr userDrawn="1"/>
        </p:nvSpPr>
        <p:spPr>
          <a:xfrm>
            <a:off x="22385343" y="6378481"/>
            <a:ext cx="10048874"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5" name="Text Placeholder 5">
            <a:extLst>
              <a:ext uri="{FF2B5EF4-FFF2-40B4-BE49-F238E27FC236}">
                <a16:creationId xmlns:a16="http://schemas.microsoft.com/office/drawing/2014/main" id="{F8EF562C-EBD7-054A-A2AC-2878C2B07911}"/>
              </a:ext>
            </a:extLst>
          </p:cNvPr>
          <p:cNvSpPr txBox="1">
            <a:spLocks/>
          </p:cNvSpPr>
          <p:nvPr userDrawn="1"/>
        </p:nvSpPr>
        <p:spPr>
          <a:xfrm>
            <a:off x="22377404" y="5548749"/>
            <a:ext cx="10058400" cy="754045"/>
          </a:xfrm>
          <a:prstGeom prst="rect">
            <a:avLst/>
          </a:prstGeom>
          <a:noFill/>
        </p:spPr>
        <p:txBody>
          <a:bodyPr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RESULTS</a:t>
            </a:r>
            <a:endParaRPr lang="en-US" dirty="0"/>
          </a:p>
        </p:txBody>
      </p:sp>
      <p:sp>
        <p:nvSpPr>
          <p:cNvPr id="16" name="Text Placeholder 5">
            <a:extLst>
              <a:ext uri="{FF2B5EF4-FFF2-40B4-BE49-F238E27FC236}">
                <a16:creationId xmlns:a16="http://schemas.microsoft.com/office/drawing/2014/main" id="{6EBFD6E6-D930-EE40-8FC7-D76AF1D0E745}"/>
              </a:ext>
            </a:extLst>
          </p:cNvPr>
          <p:cNvSpPr txBox="1">
            <a:spLocks/>
          </p:cNvSpPr>
          <p:nvPr userDrawn="1"/>
        </p:nvSpPr>
        <p:spPr>
          <a:xfrm>
            <a:off x="33390292" y="5548749"/>
            <a:ext cx="10047018"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CONCLUSIONS</a:t>
            </a:r>
            <a:endParaRPr lang="en-US" dirty="0"/>
          </a:p>
        </p:txBody>
      </p:sp>
      <p:sp>
        <p:nvSpPr>
          <p:cNvPr id="17" name="Text Placeholder 3">
            <a:extLst>
              <a:ext uri="{FF2B5EF4-FFF2-40B4-BE49-F238E27FC236}">
                <a16:creationId xmlns:a16="http://schemas.microsoft.com/office/drawing/2014/main" id="{802A46EB-776F-BF46-A88D-CF9AB67DA71E}"/>
              </a:ext>
            </a:extLst>
          </p:cNvPr>
          <p:cNvSpPr txBox="1">
            <a:spLocks/>
          </p:cNvSpPr>
          <p:nvPr userDrawn="1"/>
        </p:nvSpPr>
        <p:spPr>
          <a:xfrm>
            <a:off x="33390292" y="6378481"/>
            <a:ext cx="10047018"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18" name="Text Placeholder 5">
            <a:extLst>
              <a:ext uri="{FF2B5EF4-FFF2-40B4-BE49-F238E27FC236}">
                <a16:creationId xmlns:a16="http://schemas.microsoft.com/office/drawing/2014/main" id="{25460E65-74E6-8846-A727-BB6BBAD071AE}"/>
              </a:ext>
            </a:extLst>
          </p:cNvPr>
          <p:cNvSpPr txBox="1">
            <a:spLocks/>
          </p:cNvSpPr>
          <p:nvPr userDrawn="1"/>
        </p:nvSpPr>
        <p:spPr>
          <a:xfrm>
            <a:off x="33390292" y="14272738"/>
            <a:ext cx="10047018"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REFERENCES</a:t>
            </a:r>
            <a:endParaRPr lang="en-US" dirty="0"/>
          </a:p>
        </p:txBody>
      </p:sp>
      <p:sp>
        <p:nvSpPr>
          <p:cNvPr id="19" name="Text Placeholder 3">
            <a:extLst>
              <a:ext uri="{FF2B5EF4-FFF2-40B4-BE49-F238E27FC236}">
                <a16:creationId xmlns:a16="http://schemas.microsoft.com/office/drawing/2014/main" id="{4F37FE17-0EC4-9F4C-9A7E-25D1C6169A89}"/>
              </a:ext>
            </a:extLst>
          </p:cNvPr>
          <p:cNvSpPr txBox="1">
            <a:spLocks/>
          </p:cNvSpPr>
          <p:nvPr userDrawn="1"/>
        </p:nvSpPr>
        <p:spPr>
          <a:xfrm>
            <a:off x="33390292" y="15011402"/>
            <a:ext cx="10052050"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0" name="Text Placeholder 5">
            <a:extLst>
              <a:ext uri="{FF2B5EF4-FFF2-40B4-BE49-F238E27FC236}">
                <a16:creationId xmlns:a16="http://schemas.microsoft.com/office/drawing/2014/main" id="{99AB85CB-8CCD-D64F-BB54-7D62FBC4C219}"/>
              </a:ext>
            </a:extLst>
          </p:cNvPr>
          <p:cNvSpPr txBox="1">
            <a:spLocks/>
          </p:cNvSpPr>
          <p:nvPr userDrawn="1"/>
        </p:nvSpPr>
        <p:spPr>
          <a:xfrm>
            <a:off x="33390292" y="25679401"/>
            <a:ext cx="10047018" cy="754045"/>
          </a:xfrm>
          <a:prstGeom prst="rect">
            <a:avLst/>
          </a:prstGeom>
          <a:noFill/>
        </p:spPr>
        <p:txBody>
          <a:bodyPr wrap="square" lIns="91436" tIns="91436" rIns="91436" bIns="91436" anchor="ctr" anchorCtr="0">
            <a:spAutoFit/>
          </a:bodyPr>
          <a:lstStyle>
            <a:lvl1pPr marL="0" indent="0" algn="l" defTabSz="4388900" rtl="0" eaLnBrk="1" latinLnBrk="0" hangingPunct="1">
              <a:spcBef>
                <a:spcPct val="20000"/>
              </a:spcBef>
              <a:buClr>
                <a:schemeClr val="accent1"/>
              </a:buClr>
              <a:buSzPct val="100000"/>
              <a:buFont typeface="Wingdings" pitchFamily="2" charset="2"/>
              <a:buNone/>
              <a:defRPr sz="3700" b="1" u="sng" kern="1200" baseline="0">
                <a:solidFill>
                  <a:schemeClr val="accent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to edit)  ACKNOWLEDGEMENTS or  CONTACT</a:t>
            </a:r>
            <a:endParaRPr lang="en-US" dirty="0"/>
          </a:p>
        </p:txBody>
      </p:sp>
      <p:sp>
        <p:nvSpPr>
          <p:cNvPr id="21" name="Text Placeholder 3">
            <a:extLst>
              <a:ext uri="{FF2B5EF4-FFF2-40B4-BE49-F238E27FC236}">
                <a16:creationId xmlns:a16="http://schemas.microsoft.com/office/drawing/2014/main" id="{13FCCE08-C822-FD48-95EB-FFA5C8601F56}"/>
              </a:ext>
            </a:extLst>
          </p:cNvPr>
          <p:cNvSpPr txBox="1">
            <a:spLocks/>
          </p:cNvSpPr>
          <p:nvPr userDrawn="1"/>
        </p:nvSpPr>
        <p:spPr>
          <a:xfrm>
            <a:off x="33390292" y="26433446"/>
            <a:ext cx="10052050"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2" name="Text Placeholder 3">
            <a:extLst>
              <a:ext uri="{FF2B5EF4-FFF2-40B4-BE49-F238E27FC236}">
                <a16:creationId xmlns:a16="http://schemas.microsoft.com/office/drawing/2014/main" id="{84E05100-FF55-554B-9C62-0172D9F4627E}"/>
              </a:ext>
            </a:extLst>
          </p:cNvPr>
          <p:cNvSpPr txBox="1">
            <a:spLocks/>
          </p:cNvSpPr>
          <p:nvPr userDrawn="1"/>
        </p:nvSpPr>
        <p:spPr>
          <a:xfrm>
            <a:off x="459674" y="14951552"/>
            <a:ext cx="10056813" cy="846363"/>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Type in or paste your text here</a:t>
            </a:r>
            <a:endParaRPr lang="en-US" dirty="0"/>
          </a:p>
        </p:txBody>
      </p:sp>
      <p:sp>
        <p:nvSpPr>
          <p:cNvPr id="23" name="Text Placeholder 76">
            <a:extLst>
              <a:ext uri="{FF2B5EF4-FFF2-40B4-BE49-F238E27FC236}">
                <a16:creationId xmlns:a16="http://schemas.microsoft.com/office/drawing/2014/main" id="{0F455A0D-C545-4747-8E3B-634B87BC0696}"/>
              </a:ext>
            </a:extLst>
          </p:cNvPr>
          <p:cNvSpPr txBox="1">
            <a:spLocks/>
          </p:cNvSpPr>
          <p:nvPr userDrawn="1"/>
        </p:nvSpPr>
        <p:spPr>
          <a:xfrm>
            <a:off x="5932593" y="3127915"/>
            <a:ext cx="31998968" cy="1280160"/>
          </a:xfrm>
          <a:prstGeom prst="rect">
            <a:avLst/>
          </a:prstGeom>
        </p:spPr>
        <p:txBody>
          <a:bodyPr>
            <a:normAutofit/>
          </a:bodyPr>
          <a:lstStyle>
            <a:lvl1pPr marL="0" indent="0" algn="ctr" defTabSz="4388900" rtl="0" eaLnBrk="1" latinLnBrk="0" hangingPunct="1">
              <a:spcBef>
                <a:spcPct val="20000"/>
              </a:spcBef>
              <a:buFontTx/>
              <a:buNone/>
              <a:defRPr sz="5400"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here to add affiliations</a:t>
            </a:r>
            <a:endParaRPr lang="en-US" dirty="0"/>
          </a:p>
        </p:txBody>
      </p:sp>
      <p:sp>
        <p:nvSpPr>
          <p:cNvPr id="24" name="Text Placeholder 76">
            <a:extLst>
              <a:ext uri="{FF2B5EF4-FFF2-40B4-BE49-F238E27FC236}">
                <a16:creationId xmlns:a16="http://schemas.microsoft.com/office/drawing/2014/main" id="{007FCA07-B2D2-8D4C-8FC8-0CA2ED81515C}"/>
              </a:ext>
            </a:extLst>
          </p:cNvPr>
          <p:cNvSpPr txBox="1">
            <a:spLocks/>
          </p:cNvSpPr>
          <p:nvPr userDrawn="1"/>
        </p:nvSpPr>
        <p:spPr>
          <a:xfrm>
            <a:off x="5932593" y="1847755"/>
            <a:ext cx="31998968" cy="1280160"/>
          </a:xfrm>
          <a:prstGeom prst="rect">
            <a:avLst/>
          </a:prstGeom>
        </p:spPr>
        <p:txBody>
          <a:bodyPr anchor="t" anchorCtr="1">
            <a:normAutofit lnSpcReduction="10000"/>
          </a:bodyPr>
          <a:lstStyle>
            <a:lvl1pPr marL="0" indent="0" algn="ctr" defTabSz="4388900" rtl="0" eaLnBrk="1" latinLnBrk="0" hangingPunct="1">
              <a:spcBef>
                <a:spcPct val="20000"/>
              </a:spcBef>
              <a:buFontTx/>
              <a:buNone/>
              <a:defRPr sz="8000"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here to add authors</a:t>
            </a:r>
            <a:endParaRPr lang="en-US" dirty="0"/>
          </a:p>
        </p:txBody>
      </p:sp>
      <p:sp>
        <p:nvSpPr>
          <p:cNvPr id="25" name="Text Placeholder 76">
            <a:extLst>
              <a:ext uri="{FF2B5EF4-FFF2-40B4-BE49-F238E27FC236}">
                <a16:creationId xmlns:a16="http://schemas.microsoft.com/office/drawing/2014/main" id="{7C518942-3AE3-994C-8E67-4A9277D25E95}"/>
              </a:ext>
            </a:extLst>
          </p:cNvPr>
          <p:cNvSpPr txBox="1">
            <a:spLocks/>
          </p:cNvSpPr>
          <p:nvPr userDrawn="1"/>
        </p:nvSpPr>
        <p:spPr>
          <a:xfrm>
            <a:off x="5932593" y="209781"/>
            <a:ext cx="31998968" cy="1637973"/>
          </a:xfrm>
          <a:prstGeom prst="rect">
            <a:avLst/>
          </a:prstGeom>
        </p:spPr>
        <p:txBody>
          <a:bodyPr anchor="t" anchorCtr="1">
            <a:normAutofit/>
          </a:bodyPr>
          <a:lstStyle>
            <a:lvl1pPr marL="0" indent="0" algn="ctr" defTabSz="4388900" rtl="0" eaLnBrk="1" latinLnBrk="0" hangingPunct="1">
              <a:spcBef>
                <a:spcPct val="20000"/>
              </a:spcBef>
              <a:buFontTx/>
              <a:buNone/>
              <a:defRPr sz="9600" b="1" kern="1200">
                <a:solidFill>
                  <a:schemeClr val="bg1"/>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a:t>Click here to add title</a:t>
            </a:r>
            <a:endParaRPr lang="en-US" dirty="0"/>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31384A-E981-0946-ADDC-4722A18960F3}"/>
              </a:ext>
            </a:extLst>
          </p:cNvPr>
          <p:cNvSpPr>
            <a:spLocks noGrp="1"/>
          </p:cNvSpPr>
          <p:nvPr>
            <p:ph type="body" sz="quarter" idx="10"/>
          </p:nvPr>
        </p:nvSpPr>
        <p:spPr>
          <a:xfrm>
            <a:off x="459674" y="6378481"/>
            <a:ext cx="10056813" cy="5558423"/>
          </a:xfrm>
        </p:spPr>
        <p:txBody>
          <a:bodyPr/>
          <a:lstStyle/>
          <a:p>
            <a:pPr marL="0" marR="0" lvl="0" indent="0" algn="l" defTabSz="4388900" rtl="0" eaLnBrk="1" fontAlgn="auto" latinLnBrk="0" hangingPunct="1">
              <a:lnSpc>
                <a:spcPct val="100000"/>
              </a:lnSpc>
              <a:spcBef>
                <a:spcPct val="20000"/>
              </a:spcBef>
              <a:spcAft>
                <a:spcPts val="0"/>
              </a:spcAft>
              <a:buClrTx/>
              <a:buSzTx/>
              <a:buFont typeface="Arial" pitchFamily="34" charset="0"/>
              <a:buNone/>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In many cities, especially large ones, there are many forms of public transportation and private transportation. One of such forms is rental bikes to help pedestrians get around easier over longer distances and may be more convenient than subways or busses.</a:t>
            </a:r>
          </a:p>
          <a:p>
            <a:pPr marL="0" marR="0" lvl="0" indent="0" algn="l" defTabSz="4388900" rtl="0" eaLnBrk="1" fontAlgn="auto" latinLnBrk="0" hangingPunct="1">
              <a:lnSpc>
                <a:spcPct val="100000"/>
              </a:lnSpc>
              <a:spcBef>
                <a:spcPct val="20000"/>
              </a:spcBef>
              <a:spcAft>
                <a:spcPts val="0"/>
              </a:spcAft>
              <a:buClrTx/>
              <a:buSzTx/>
              <a:buFont typeface="Arial" pitchFamily="34" charset="0"/>
              <a:buNone/>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As one who travels a good bit, it is of interest to see what are more effective than other forms of transport and when it would best be utilized.</a:t>
            </a:r>
            <a:endParaRPr lang="en-US" dirty="0"/>
          </a:p>
        </p:txBody>
      </p:sp>
      <p:sp>
        <p:nvSpPr>
          <p:cNvPr id="3" name="Text Placeholder 2">
            <a:extLst>
              <a:ext uri="{FF2B5EF4-FFF2-40B4-BE49-F238E27FC236}">
                <a16:creationId xmlns:a16="http://schemas.microsoft.com/office/drawing/2014/main" id="{BB9651DF-245B-DE47-A8E1-DE4F451C0B9E}"/>
              </a:ext>
            </a:extLst>
          </p:cNvPr>
          <p:cNvSpPr>
            <a:spLocks noGrp="1"/>
          </p:cNvSpPr>
          <p:nvPr>
            <p:ph type="body" sz="quarter" idx="11"/>
          </p:nvPr>
        </p:nvSpPr>
        <p:spPr/>
        <p:txBody>
          <a:bodyPr/>
          <a:lstStyle/>
          <a:p>
            <a:r>
              <a:rPr lang="en-US" sz="3600" dirty="0">
                <a:latin typeface="Helvetica" panose="020B0604020202020204" pitchFamily="34" charset="0"/>
                <a:cs typeface="Helvetica" panose="020B0604020202020204" pitchFamily="34" charset="0"/>
              </a:rPr>
              <a:t>Introduction and Motivation</a:t>
            </a:r>
          </a:p>
        </p:txBody>
      </p:sp>
      <p:sp>
        <p:nvSpPr>
          <p:cNvPr id="4" name="Text Placeholder 3">
            <a:extLst>
              <a:ext uri="{FF2B5EF4-FFF2-40B4-BE49-F238E27FC236}">
                <a16:creationId xmlns:a16="http://schemas.microsoft.com/office/drawing/2014/main" id="{B3A75B69-B887-494F-8354-19A97A084D60}"/>
              </a:ext>
            </a:extLst>
          </p:cNvPr>
          <p:cNvSpPr>
            <a:spLocks noGrp="1"/>
          </p:cNvSpPr>
          <p:nvPr>
            <p:ph type="body" sz="quarter" idx="20"/>
          </p:nvPr>
        </p:nvSpPr>
        <p:spPr>
          <a:xfrm>
            <a:off x="453890" y="12655498"/>
            <a:ext cx="10050462" cy="754045"/>
          </a:xfrm>
        </p:spPr>
        <p:txBody>
          <a:bodyPr/>
          <a:lstStyle/>
          <a:p>
            <a:r>
              <a:rPr lang="en-US" sz="3600" dirty="0">
                <a:latin typeface="Helvetica" panose="020B0604020202020204" pitchFamily="34" charset="0"/>
                <a:cs typeface="Helvetica" panose="020B0604020202020204" pitchFamily="34" charset="0"/>
              </a:rPr>
              <a:t>Objectives of the project</a:t>
            </a:r>
          </a:p>
        </p:txBody>
      </p:sp>
      <p:sp>
        <p:nvSpPr>
          <p:cNvPr id="6" name="Text Placeholder 5">
            <a:extLst>
              <a:ext uri="{FF2B5EF4-FFF2-40B4-BE49-F238E27FC236}">
                <a16:creationId xmlns:a16="http://schemas.microsoft.com/office/drawing/2014/main" id="{8AFEEE7D-41C4-3B45-BFE6-D61F77CAFF9F}"/>
              </a:ext>
            </a:extLst>
          </p:cNvPr>
          <p:cNvSpPr>
            <a:spLocks noGrp="1"/>
          </p:cNvSpPr>
          <p:nvPr>
            <p:ph type="body" sz="quarter" idx="22"/>
          </p:nvPr>
        </p:nvSpPr>
        <p:spPr>
          <a:xfrm>
            <a:off x="16921162" y="5548748"/>
            <a:ext cx="10048875" cy="754045"/>
          </a:xfrm>
        </p:spPr>
        <p:txBody>
          <a:bodyPr/>
          <a:lstStyle/>
          <a:p>
            <a:pPr algn="ctr"/>
            <a:r>
              <a:rPr lang="en-US" sz="3600" dirty="0">
                <a:latin typeface="Helvetica" panose="020B0604020202020204" pitchFamily="34" charset="0"/>
                <a:cs typeface="Helvetica" panose="020B0604020202020204" pitchFamily="34" charset="0"/>
              </a:rPr>
              <a:t>The data Graphically</a:t>
            </a:r>
          </a:p>
        </p:txBody>
      </p:sp>
      <p:sp>
        <p:nvSpPr>
          <p:cNvPr id="9" name="Text Placeholder 8">
            <a:extLst>
              <a:ext uri="{FF2B5EF4-FFF2-40B4-BE49-F238E27FC236}">
                <a16:creationId xmlns:a16="http://schemas.microsoft.com/office/drawing/2014/main" id="{027FBB48-301F-E54B-9C0F-B0AF4F8F13C3}"/>
              </a:ext>
            </a:extLst>
          </p:cNvPr>
          <p:cNvSpPr>
            <a:spLocks noGrp="1"/>
          </p:cNvSpPr>
          <p:nvPr>
            <p:ph type="body" sz="quarter" idx="25"/>
          </p:nvPr>
        </p:nvSpPr>
        <p:spPr/>
        <p:txBody>
          <a:bodyPr/>
          <a:lstStyle/>
          <a:p>
            <a:r>
              <a:rPr lang="en-US" sz="3600" dirty="0">
                <a:latin typeface="Helvetica" panose="020B0604020202020204" pitchFamily="34" charset="0"/>
                <a:cs typeface="Helvetica" panose="020B0604020202020204" pitchFamily="34" charset="0"/>
              </a:rPr>
              <a:t>Results</a:t>
            </a:r>
          </a:p>
        </p:txBody>
      </p:sp>
      <p:sp>
        <p:nvSpPr>
          <p:cNvPr id="10" name="Text Placeholder 9">
            <a:extLst>
              <a:ext uri="{FF2B5EF4-FFF2-40B4-BE49-F238E27FC236}">
                <a16:creationId xmlns:a16="http://schemas.microsoft.com/office/drawing/2014/main" id="{A84428BB-306F-7648-8365-865D8442AB50}"/>
              </a:ext>
            </a:extLst>
          </p:cNvPr>
          <p:cNvSpPr>
            <a:spLocks noGrp="1"/>
          </p:cNvSpPr>
          <p:nvPr>
            <p:ph type="body" sz="quarter" idx="26"/>
          </p:nvPr>
        </p:nvSpPr>
        <p:spPr>
          <a:xfrm>
            <a:off x="33390292" y="6378481"/>
            <a:ext cx="10047018" cy="9547207"/>
          </a:xfrm>
        </p:spPr>
        <p:txBody>
          <a:bodyPr/>
          <a:lstStyle/>
          <a:p>
            <a:pPr marL="514350" marR="0" lvl="0" indent="-514350" algn="l" defTabSz="43889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Bikes are rented more commonly in summer and fall than in winter and spring, though all 4 seasons were within the 4232-4496 range, so it’s not a dramatic difference.</a:t>
            </a:r>
          </a:p>
          <a:p>
            <a:pPr marL="514350" marR="0" lvl="0" indent="-514350" algn="l" defTabSz="43889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The hour of the day was the most significant predictor in determining the number of bike rentals, which makes sense, people are going to use them to get to work, get away from work, or on their lunch break primarily, at least in D.C. The most common days were also weekdays in terms of the number of rentals. Again, makes sense.</a:t>
            </a:r>
          </a:p>
          <a:p>
            <a:pPr marL="514350" marR="0" lvl="0" indent="-514350" algn="l" defTabSz="43889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The models created and tested, scored very highly in regards to their predictive power in determining the number of bikes that would be rented.</a:t>
            </a:r>
          </a:p>
        </p:txBody>
      </p:sp>
      <p:sp>
        <p:nvSpPr>
          <p:cNvPr id="11" name="Text Placeholder 10">
            <a:extLst>
              <a:ext uri="{FF2B5EF4-FFF2-40B4-BE49-F238E27FC236}">
                <a16:creationId xmlns:a16="http://schemas.microsoft.com/office/drawing/2014/main" id="{38D54E99-CD09-EA42-AB77-4AB0DEE80F55}"/>
              </a:ext>
            </a:extLst>
          </p:cNvPr>
          <p:cNvSpPr>
            <a:spLocks noGrp="1"/>
          </p:cNvSpPr>
          <p:nvPr>
            <p:ph type="body" sz="quarter" idx="27"/>
          </p:nvPr>
        </p:nvSpPr>
        <p:spPr>
          <a:xfrm>
            <a:off x="33385260" y="20845837"/>
            <a:ext cx="10047018" cy="754045"/>
          </a:xfrm>
        </p:spPr>
        <p:txBody>
          <a:bodyPr/>
          <a:lstStyle/>
          <a:p>
            <a:r>
              <a:rPr lang="en-US" sz="3600" dirty="0">
                <a:latin typeface="Helvetica" panose="020B0604020202020204" pitchFamily="34" charset="0"/>
                <a:cs typeface="Helvetica" panose="020B0604020202020204" pitchFamily="34" charset="0"/>
              </a:rPr>
              <a:t>Conclusions</a:t>
            </a:r>
          </a:p>
        </p:txBody>
      </p:sp>
      <p:sp>
        <p:nvSpPr>
          <p:cNvPr id="12" name="Text Placeholder 11">
            <a:extLst>
              <a:ext uri="{FF2B5EF4-FFF2-40B4-BE49-F238E27FC236}">
                <a16:creationId xmlns:a16="http://schemas.microsoft.com/office/drawing/2014/main" id="{D11F3E96-6F91-E14D-AC57-F39AA9727DD5}"/>
              </a:ext>
            </a:extLst>
          </p:cNvPr>
          <p:cNvSpPr>
            <a:spLocks noGrp="1"/>
          </p:cNvSpPr>
          <p:nvPr>
            <p:ph type="body" sz="quarter" idx="28"/>
          </p:nvPr>
        </p:nvSpPr>
        <p:spPr>
          <a:xfrm>
            <a:off x="33380228" y="21656967"/>
            <a:ext cx="10052050" cy="5447623"/>
          </a:xfrm>
        </p:spPr>
        <p:txBody>
          <a:bodyPr/>
          <a:lstStyle/>
          <a:p>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I’ve concluded that after my research, if this system is as effective as it is in D.C. it should be equally, if not more, effective in cities such as New York, or Miami, or Los Angeles, all of which have very dense populations and more importantly, people who live in these cities, unlike in D.C. where there is significantly less individuals actually living in the city and that has little to no nightlife.</a:t>
            </a:r>
            <a:endParaRPr lang="en-US" sz="3600" dirty="0"/>
          </a:p>
        </p:txBody>
      </p:sp>
      <p:sp>
        <p:nvSpPr>
          <p:cNvPr id="15" name="Text Placeholder 14">
            <a:extLst>
              <a:ext uri="{FF2B5EF4-FFF2-40B4-BE49-F238E27FC236}">
                <a16:creationId xmlns:a16="http://schemas.microsoft.com/office/drawing/2014/main" id="{E88D1D93-1749-134C-B259-6CB1F13ABE6B}"/>
              </a:ext>
            </a:extLst>
          </p:cNvPr>
          <p:cNvSpPr>
            <a:spLocks noGrp="1"/>
          </p:cNvSpPr>
          <p:nvPr>
            <p:ph type="body" sz="quarter" idx="96"/>
          </p:nvPr>
        </p:nvSpPr>
        <p:spPr>
          <a:xfrm>
            <a:off x="447539" y="13580453"/>
            <a:ext cx="10056813" cy="6888017"/>
          </a:xfrm>
        </p:spPr>
        <p:txBody>
          <a:bodyPr/>
          <a:lstStyle/>
          <a:p>
            <a:pPr marL="0" marR="0" lvl="0" indent="0" algn="l" defTabSz="4388900" rtl="0" eaLnBrk="1" fontAlgn="auto" latinLnBrk="0" hangingPunct="1">
              <a:lnSpc>
                <a:spcPct val="100000"/>
              </a:lnSpc>
              <a:spcBef>
                <a:spcPct val="20000"/>
              </a:spcBef>
              <a:spcAft>
                <a:spcPts val="0"/>
              </a:spcAft>
              <a:buClrTx/>
              <a:buSzTx/>
              <a:buFont typeface="Arial" pitchFamily="34" charset="0"/>
              <a:buNone/>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The objectives in this project are as follows:</a:t>
            </a:r>
          </a:p>
          <a:p>
            <a:pPr marL="514350" marR="0" lvl="0" indent="-514350" algn="l" defTabSz="43889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To review and report on any findings in the data pre-modeling</a:t>
            </a:r>
          </a:p>
          <a:p>
            <a:pPr marL="514350" marR="0" lvl="0" indent="-514350" algn="l" defTabSz="43889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To construct predictive models on when rental bikes are utilized (rented) most to help with planning purposes in regards to expanding this project to more cities.</a:t>
            </a:r>
          </a:p>
          <a:p>
            <a:pPr marL="514350" marR="0" lvl="0" indent="-514350" algn="l" defTabSz="4388900" rtl="0" eaLnBrk="1" fontAlgn="auto" latinLnBrk="0" hangingPunct="1">
              <a:lnSpc>
                <a:spcPct val="100000"/>
              </a:lnSpc>
              <a:spcBef>
                <a:spcPct val="20000"/>
              </a:spcBef>
              <a:spcAft>
                <a:spcPts val="0"/>
              </a:spcAft>
              <a:buClrTx/>
              <a:buSzTx/>
              <a:buFont typeface="Arial" pitchFamily="34" charset="0"/>
              <a:buAutoNum type="arabicPeriod"/>
              <a:tabLst/>
              <a:defRPr/>
            </a:pPr>
            <a:r>
              <a:rPr kumimoji="0" lang="en-US" sz="3600" b="0" i="0" u="none" strike="noStrike" kern="1200" cap="none" spc="0" normalizeH="0" baseline="0" noProof="0" dirty="0">
                <a:ln>
                  <a:noFill/>
                </a:ln>
                <a:solidFill>
                  <a:srgbClr val="44546A"/>
                </a:solidFill>
                <a:effectLst/>
                <a:uLnTx/>
                <a:uFillTx/>
                <a:latin typeface="Helvetica" pitchFamily="2" charset="0"/>
                <a:ea typeface="+mn-ea"/>
                <a:cs typeface="Times New Roman" pitchFamily="18" charset="0"/>
              </a:rPr>
              <a:t>To check feasibility of these expansions, meaning if they are self sufficient or would require additional funding to cover the costs of implementation.</a:t>
            </a:r>
            <a:endParaRPr lang="en-US" sz="3600" dirty="0"/>
          </a:p>
        </p:txBody>
      </p:sp>
      <p:sp>
        <p:nvSpPr>
          <p:cNvPr id="16" name="Text Placeholder 15">
            <a:extLst>
              <a:ext uri="{FF2B5EF4-FFF2-40B4-BE49-F238E27FC236}">
                <a16:creationId xmlns:a16="http://schemas.microsoft.com/office/drawing/2014/main" id="{06B6F172-D328-DF42-880A-89E335C89DF1}"/>
              </a:ext>
            </a:extLst>
          </p:cNvPr>
          <p:cNvSpPr>
            <a:spLocks noGrp="1"/>
          </p:cNvSpPr>
          <p:nvPr>
            <p:ph type="body" sz="quarter" idx="150"/>
          </p:nvPr>
        </p:nvSpPr>
        <p:spPr/>
        <p:txBody>
          <a:bodyPr/>
          <a:lstStyle/>
          <a:p>
            <a:r>
              <a:rPr lang="en-US" dirty="0"/>
              <a:t>Bellarmine University 2026</a:t>
            </a:r>
          </a:p>
        </p:txBody>
      </p:sp>
      <p:sp>
        <p:nvSpPr>
          <p:cNvPr id="17" name="Text Placeholder 16">
            <a:extLst>
              <a:ext uri="{FF2B5EF4-FFF2-40B4-BE49-F238E27FC236}">
                <a16:creationId xmlns:a16="http://schemas.microsoft.com/office/drawing/2014/main" id="{151933EC-B042-8942-9D9C-760FADF42540}"/>
              </a:ext>
            </a:extLst>
          </p:cNvPr>
          <p:cNvSpPr>
            <a:spLocks noGrp="1"/>
          </p:cNvSpPr>
          <p:nvPr>
            <p:ph type="body" sz="quarter" idx="151"/>
          </p:nvPr>
        </p:nvSpPr>
        <p:spPr/>
        <p:txBody>
          <a:bodyPr>
            <a:normAutofit lnSpcReduction="10000"/>
          </a:bodyPr>
          <a:lstStyle/>
          <a:p>
            <a:r>
              <a:rPr lang="en-US" dirty="0"/>
              <a:t>Sal Pusateri</a:t>
            </a:r>
          </a:p>
        </p:txBody>
      </p:sp>
      <p:sp>
        <p:nvSpPr>
          <p:cNvPr id="18" name="Text Placeholder 17">
            <a:extLst>
              <a:ext uri="{FF2B5EF4-FFF2-40B4-BE49-F238E27FC236}">
                <a16:creationId xmlns:a16="http://schemas.microsoft.com/office/drawing/2014/main" id="{4D173F97-16EA-804F-A097-81BA0AA49E2D}"/>
              </a:ext>
            </a:extLst>
          </p:cNvPr>
          <p:cNvSpPr>
            <a:spLocks noGrp="1"/>
          </p:cNvSpPr>
          <p:nvPr>
            <p:ph type="body" sz="quarter" idx="153"/>
          </p:nvPr>
        </p:nvSpPr>
        <p:spPr/>
        <p:txBody>
          <a:bodyPr/>
          <a:lstStyle/>
          <a:p>
            <a:r>
              <a:rPr lang="en-US" dirty="0"/>
              <a:t>Bike Rental Data</a:t>
            </a:r>
          </a:p>
        </p:txBody>
      </p:sp>
      <p:pic>
        <p:nvPicPr>
          <p:cNvPr id="20" name="Picture 19">
            <a:extLst>
              <a:ext uri="{FF2B5EF4-FFF2-40B4-BE49-F238E27FC236}">
                <a16:creationId xmlns:a16="http://schemas.microsoft.com/office/drawing/2014/main" id="{EFB59215-3477-22B2-170C-8524CFE3E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539" y="20154695"/>
            <a:ext cx="14665564" cy="9635790"/>
          </a:xfrm>
          <a:prstGeom prst="rect">
            <a:avLst/>
          </a:prstGeom>
        </p:spPr>
      </p:pic>
      <p:pic>
        <p:nvPicPr>
          <p:cNvPr id="24" name="Picture 23">
            <a:extLst>
              <a:ext uri="{FF2B5EF4-FFF2-40B4-BE49-F238E27FC236}">
                <a16:creationId xmlns:a16="http://schemas.microsoft.com/office/drawing/2014/main" id="{CA65F851-832E-4BB8-1474-ED39616A26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18197" y="17399600"/>
            <a:ext cx="18042969" cy="11854864"/>
          </a:xfrm>
          <a:prstGeom prst="rect">
            <a:avLst/>
          </a:prstGeom>
        </p:spPr>
      </p:pic>
      <p:pic>
        <p:nvPicPr>
          <p:cNvPr id="7" name="Picture 6">
            <a:extLst>
              <a:ext uri="{FF2B5EF4-FFF2-40B4-BE49-F238E27FC236}">
                <a16:creationId xmlns:a16="http://schemas.microsoft.com/office/drawing/2014/main" id="{DEF40722-4320-7142-ACF1-3560A2FE00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58667" y="6600103"/>
            <a:ext cx="20819489" cy="13679135"/>
          </a:xfrm>
          <a:prstGeom prst="rect">
            <a:avLst/>
          </a:prstGeom>
        </p:spPr>
      </p:pic>
    </p:spTree>
    <p:extLst>
      <p:ext uri="{BB962C8B-B14F-4D97-AF65-F5344CB8AC3E}">
        <p14:creationId xmlns:p14="http://schemas.microsoft.com/office/powerpoint/2010/main" val="3727187881"/>
      </p:ext>
    </p:extLst>
  </p:cSld>
  <p:clrMapOvr>
    <a:masterClrMapping/>
  </p:clrMapOvr>
</p:sld>
</file>

<file path=ppt/theme/theme1.xml><?xml version="1.0" encoding="utf-8"?>
<a:theme xmlns:a="http://schemas.openxmlformats.org/drawingml/2006/main" name="36x48-Templat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1782</TotalTime>
  <Words>388</Words>
  <Application>Microsoft Office PowerPoint</Application>
  <PresentationFormat>Custom</PresentationFormat>
  <Paragraphs>18</Paragraphs>
  <Slides>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Arial</vt:lpstr>
      <vt:lpstr>Arial Black</vt:lpstr>
      <vt:lpstr>Calibri</vt:lpstr>
      <vt:lpstr>Helvetica</vt:lpstr>
      <vt:lpstr>Times New Roman</vt:lpstr>
      <vt:lpstr>Trebuchet MS</vt:lpstr>
      <vt:lpstr>Wingdings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Salvatore M. Pusateri</cp:lastModifiedBy>
  <cp:revision>67</cp:revision>
  <dcterms:created xsi:type="dcterms:W3CDTF">2012-02-03T19:11:35Z</dcterms:created>
  <dcterms:modified xsi:type="dcterms:W3CDTF">2026-03-20T06:25:23Z</dcterms:modified>
  <cp:category>Research poster templates</cp:category>
</cp:coreProperties>
</file>